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FFFFFF"/>
                </a:solidFill>
              </a:defRPr>
            </a:pPr>
            <a:r>
              <a:rPr>
                <a:solidFill>
                  <a:srgbClr val="D2E1EB"/>
                </a:solidFill>
                <a:latin typeface="Aptos Display"/>
              </a:rPr>
              <a:t>Sales Data Analytics Project</a:t>
            </a:r>
          </a:p>
          <a:p>
            <a:pPr>
              <a:spcAft>
                <a:spcPts val="800"/>
              </a:spcAft>
              <a:defRPr sz="2400">
                <a:solidFill>
                  <a:srgbClr val="DCE6F0"/>
                </a:solidFill>
              </a:defRPr>
            </a:pPr>
            <a:r>
              <a:rPr>
                <a:solidFill>
                  <a:srgbClr val="D2E1EB"/>
                </a:solidFill>
                <a:latin typeface="Aptos Display"/>
              </a:rPr>
              <a:t>End-to-End Online Retail Sales Analysis</a:t>
            </a:r>
          </a:p>
          <a:p>
            <a:pPr>
              <a:spcAft>
                <a:spcPts val="800"/>
              </a:spcAft>
              <a:defRPr sz="1700">
                <a:solidFill>
                  <a:srgbClr val="BECDDC"/>
                </a:solidFill>
              </a:defRPr>
            </a:pPr>
            <a:r>
              <a:rPr>
                <a:solidFill>
                  <a:srgbClr val="D2E1EB"/>
                </a:solidFill>
                <a:latin typeface="Aptos Display"/>
              </a:rPr>
              <a:t>Python • EDA • Data Visualization • Power BI • Git &amp;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0749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>
                <a:solidFill>
                  <a:srgbClr val="D2E1EB"/>
                </a:solidFill>
                <a:latin typeface="Aptos Display"/>
              </a:rPr>
              <a:t>Final Data Analytics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 dirty="0">
                <a:solidFill>
                  <a:srgbClr val="D2E1EB"/>
                </a:solidFill>
                <a:latin typeface="Aptos Display"/>
              </a:rPr>
              <a:t>Sales Data Analytics Project  • 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315700" y="6382512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rgbClr val="D2E1EB"/>
                </a:solidFill>
                <a:latin typeface="Aptos Display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051560"/>
            <a:ext cx="109728" cy="4480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5532120"/>
            <a:ext cx="306324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FINAL DATA ANALYTICS CAPSTONE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D3EAE45A-4014-C4BC-42B5-EFCBDCF4EB5B}"/>
              </a:ext>
            </a:extLst>
          </p:cNvPr>
          <p:cNvSpPr txBox="1"/>
          <p:nvPr/>
        </p:nvSpPr>
        <p:spPr>
          <a:xfrm>
            <a:off x="868680" y="4754880"/>
            <a:ext cx="377988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0" dirty="0">
                <a:solidFill>
                  <a:srgbClr val="FFFFFF"/>
                </a:solidFill>
                <a:latin typeface="Aptos"/>
              </a:rPr>
              <a:t>Presented by</a:t>
            </a:r>
            <a:r>
              <a:rPr sz="1400" b="0">
                <a:solidFill>
                  <a:srgbClr val="FFFFFF"/>
                </a:solidFill>
                <a:latin typeface="Aptos"/>
              </a:rPr>
              <a:t>: </a:t>
            </a:r>
            <a:r>
              <a:rPr lang="en-US" sz="1400" b="0">
                <a:solidFill>
                  <a:srgbClr val="FFFFFF"/>
                </a:solidFill>
                <a:latin typeface="Aptos"/>
              </a:rPr>
              <a:t>NAGAPATLA MOHAMMAD IRFAN</a:t>
            </a:r>
            <a:endParaRPr sz="1400" b="0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Analyzed real-world online retail transaction data to understand sales performance.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Identified sales trends, top-performing products, major markets, and business opportunities.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Built a complete analytics workflow from raw data preparation to interactive Power BI reporting.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Used Git and GitHub to document and version the project professionally.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Sales Data Analytics Project  • 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292840" y="6382512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2. Problem Statement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Business questions: Which products generate the highest sales?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Which countries contribute the most revenue, and how do sales change over time?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What relationship exists between quantity and sales, and what actions can improve performance?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Dataset: UCI Online Retail Dataset — 541,909 original records, 8 columns.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Period: December 2010 to December 2011; mainly United Kingdom with international transactions.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Sales Data Analytics Project  • 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292840" y="6414516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3. Data Cleaning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Inspected columns, data types, missing values, duplicates, and invalid transaction values.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Removed duplicate records and rows with missing product descriptions or CustomerID.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Removed transactions with non-positive quantities and non-positive unit prices.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Converted CustomerID to integer format and created TotalSales = Quantity × UnitPrice.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Result: 392,692 cleaned records with no remaining duplicates and important missing values handled.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074920"/>
            <a:ext cx="32461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Original records</a:t>
            </a:r>
            <a:br/>
            <a:r>
              <a:rPr>
                <a:latin typeface="Aptos"/>
              </a:rPr>
              <a:t>541,909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5074920"/>
            <a:ext cx="32461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Cleaned records</a:t>
            </a:r>
            <a:br/>
            <a:r>
              <a:rPr>
                <a:latin typeface="Aptos"/>
              </a:rPr>
              <a:t>392,692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5074920"/>
            <a:ext cx="32461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Records removed</a:t>
            </a:r>
            <a:br/>
            <a:r>
              <a:rPr>
                <a:latin typeface="Aptos"/>
              </a:rPr>
              <a:t>149,217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Sales Data Analytics Project  • 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292840" y="6382512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4.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Total Sales: approximately £8.89M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Total Orders: 18,532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Total Customers: 4,338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Average Order Value: approximately £479.56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Quantity vs TotalSales correlation: 0.914 — a strong positive relationship.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Extreme values in Quantity, UnitPrice and TotalSales were reviewed rather than automatically removed because they may represent genuine transactions.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Sales Data Analytics Project  •  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292840" y="6346624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5. Data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Five Python/Matplotlib visualizations were created to communicate key patterns.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39596"/>
            <a:ext cx="50749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800" b="1">
                <a:solidFill>
                  <a:srgbClr val="14263F"/>
                </a:solidFill>
              </a:defRPr>
            </a:pPr>
            <a:r>
              <a:rPr dirty="0">
                <a:latin typeface="Aptos"/>
              </a:rPr>
              <a:t>Top 10 Products</a:t>
            </a:r>
          </a:p>
          <a:p>
            <a:pPr>
              <a:spcAft>
                <a:spcPts val="800"/>
              </a:spcAft>
              <a:defRPr sz="1300">
                <a:solidFill>
                  <a:srgbClr val="5F6973"/>
                </a:solidFill>
              </a:defRPr>
            </a:pPr>
            <a:r>
              <a:rPr dirty="0">
                <a:latin typeface="Aptos"/>
              </a:rPr>
              <a:t>Product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417320"/>
            <a:ext cx="5074920" cy="44485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800" b="1">
                <a:solidFill>
                  <a:srgbClr val="14263F"/>
                </a:solidFill>
              </a:defRPr>
            </a:pPr>
            <a:r>
              <a:rPr dirty="0">
                <a:latin typeface="Aptos"/>
              </a:rPr>
              <a:t>Monthly Sales Trend</a:t>
            </a:r>
          </a:p>
          <a:p>
            <a:pPr>
              <a:spcAft>
                <a:spcPts val="800"/>
              </a:spcAft>
              <a:defRPr sz="1300">
                <a:solidFill>
                  <a:srgbClr val="5F6973"/>
                </a:solidFill>
              </a:defRPr>
            </a:pPr>
            <a:r>
              <a:rPr dirty="0">
                <a:latin typeface="Aptos"/>
              </a:rPr>
              <a:t>Seasonality and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Sales Data Analytics Project  •  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315700" y="6382512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17D53AB-784F-860F-F39B-65165DB24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16" y="2375493"/>
            <a:ext cx="4991648" cy="296342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4A55C9-132A-DE2F-1DA9-BDF5FB2BA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517" y="2375493"/>
            <a:ext cx="4797661" cy="30926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F6A9FAC9-2118-68FB-EE14-C919DD9488D9}"/>
              </a:ext>
            </a:extLst>
          </p:cNvPr>
          <p:cNvSpPr/>
          <p:nvPr/>
        </p:nvSpPr>
        <p:spPr>
          <a:xfrm>
            <a:off x="400173" y="209918"/>
            <a:ext cx="5074920" cy="321908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800" b="1">
                <a:solidFill>
                  <a:srgbClr val="14263F"/>
                </a:solidFill>
              </a:defRPr>
            </a:pPr>
            <a:r>
              <a:rPr dirty="0">
                <a:latin typeface="Aptos"/>
              </a:rPr>
              <a:t>Top 10 Countries</a:t>
            </a:r>
          </a:p>
          <a:p>
            <a:pPr>
              <a:spcAft>
                <a:spcPts val="800"/>
              </a:spcAft>
              <a:defRPr sz="1300">
                <a:solidFill>
                  <a:srgbClr val="5F6973"/>
                </a:solidFill>
              </a:defRPr>
            </a:pPr>
            <a:r>
              <a:rPr dirty="0">
                <a:latin typeface="Aptos"/>
              </a:rPr>
              <a:t>Market performance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1DD59E0A-343D-F342-7CED-EFD78D0DA53A}"/>
              </a:ext>
            </a:extLst>
          </p:cNvPr>
          <p:cNvSpPr/>
          <p:nvPr/>
        </p:nvSpPr>
        <p:spPr>
          <a:xfrm>
            <a:off x="6716907" y="209919"/>
            <a:ext cx="5074920" cy="321908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800" b="1">
                <a:solidFill>
                  <a:srgbClr val="14263F"/>
                </a:solidFill>
              </a:defRPr>
            </a:pPr>
            <a:r>
              <a:rPr dirty="0">
                <a:latin typeface="Aptos"/>
              </a:rPr>
              <a:t>Quantity vs Total Sales</a:t>
            </a:r>
          </a:p>
          <a:p>
            <a:pPr>
              <a:spcAft>
                <a:spcPts val="800"/>
              </a:spcAft>
              <a:defRPr sz="1300">
                <a:solidFill>
                  <a:srgbClr val="5F6973"/>
                </a:solidFill>
              </a:defRPr>
            </a:pPr>
            <a:r>
              <a:rPr dirty="0">
                <a:latin typeface="Aptos"/>
              </a:rPr>
              <a:t>Relationship analysis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7A5EA2BC-AF84-E448-1FA1-D2683F0DD059}"/>
              </a:ext>
            </a:extLst>
          </p:cNvPr>
          <p:cNvSpPr/>
          <p:nvPr/>
        </p:nvSpPr>
        <p:spPr>
          <a:xfrm>
            <a:off x="3558540" y="3570583"/>
            <a:ext cx="5074920" cy="307749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800" b="1">
                <a:solidFill>
                  <a:srgbClr val="14263F"/>
                </a:solidFill>
              </a:defRPr>
            </a:pPr>
            <a:r>
              <a:rPr dirty="0">
                <a:latin typeface="Aptos"/>
              </a:rPr>
              <a:t>Sales Distribution</a:t>
            </a:r>
          </a:p>
          <a:p>
            <a:pPr>
              <a:spcAft>
                <a:spcPts val="800"/>
              </a:spcAft>
              <a:defRPr sz="1300">
                <a:solidFill>
                  <a:srgbClr val="5F6973"/>
                </a:solidFill>
              </a:defRPr>
            </a:pPr>
            <a:r>
              <a:rPr dirty="0">
                <a:latin typeface="Aptos"/>
              </a:rPr>
              <a:t>Transaction distribution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3A8A56-D29D-29BE-46DA-A3215665E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06" y="1023778"/>
            <a:ext cx="4515956" cy="23047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EB1632-4139-EDB7-2ADD-87883E29E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238" y="1012434"/>
            <a:ext cx="4515956" cy="23160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AD66D6-BD9F-8581-778D-BC2C06067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3743" y="4411431"/>
            <a:ext cx="4503174" cy="2077860"/>
          </a:xfrm>
          <a:prstGeom prst="rect">
            <a:avLst/>
          </a:prstGeom>
        </p:spPr>
      </p:pic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917E8A6C-C81A-BD0D-FFFC-7C8F4F2F693F}"/>
              </a:ext>
            </a:extLst>
          </p:cNvPr>
          <p:cNvSpPr/>
          <p:nvPr/>
        </p:nvSpPr>
        <p:spPr>
          <a:xfrm>
            <a:off x="11235321" y="6408567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546801-2F07-A82E-7289-95439F095547}"/>
              </a:ext>
            </a:extLst>
          </p:cNvPr>
          <p:cNvSpPr txBox="1"/>
          <p:nvPr/>
        </p:nvSpPr>
        <p:spPr>
          <a:xfrm>
            <a:off x="9731711" y="6470343"/>
            <a:ext cx="162897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 dirty="0">
                <a:latin typeface="Aptos"/>
              </a:rPr>
              <a:t>Sales Data Analytics Project  </a:t>
            </a:r>
          </a:p>
        </p:txBody>
      </p:sp>
    </p:spTree>
    <p:extLst>
      <p:ext uri="{BB962C8B-B14F-4D97-AF65-F5344CB8AC3E}">
        <p14:creationId xmlns:p14="http://schemas.microsoft.com/office/powerpoint/2010/main" val="1966183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6.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United Kingdom is the dominant market, generating approximately £7.29M in sales.</a:t>
            </a:r>
          </a:p>
          <a:p>
            <a:pPr>
              <a:spcAft>
                <a:spcPts val="800"/>
              </a:spcAft>
              <a:defRPr sz="18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November 2011 was the strongest month at approximately £1.16M.</a:t>
            </a:r>
          </a:p>
          <a:p>
            <a:pPr>
              <a:spcAft>
                <a:spcPts val="800"/>
              </a:spcAft>
              <a:defRPr sz="18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October 2011 generated approximately £1.04M; September reached approximately £950.69K.</a:t>
            </a:r>
          </a:p>
          <a:p>
            <a:pPr>
              <a:spcAft>
                <a:spcPts val="800"/>
              </a:spcAft>
              <a:defRPr sz="18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PAPER CRAFT, LITTLE BIRDIE was the top-selling product by total sales at approximately £168.47K.</a:t>
            </a:r>
          </a:p>
          <a:p>
            <a:pPr>
              <a:spcAft>
                <a:spcPts val="800"/>
              </a:spcAft>
              <a:defRPr sz="18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Sales increased significantly toward the end of 2011, indicating a strong seasonal demand period.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Sales Data Analytics Project  • 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292840" y="6382512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8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7. 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Interactive dashboard created to monitor the most important sales metrics.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KPI Cards: Total Sales £8.89M • Total Orders 18.53K • Total Customers 4.34K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Visuals: Monthly Sales Trend, Top 10 Products, Top 10 Countries, and Sales by Month.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Filters: Country and Year.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Dashboard supports interactive exploration of sales performance and business trends.</a:t>
            </a:r>
          </a:p>
        </p:txBody>
      </p:sp>
      <p:pic>
        <p:nvPicPr>
          <p:cNvPr id="5" name="Picture 4" descr="Screenshot 2026-09-10 2201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388" y="3083242"/>
            <a:ext cx="6385560" cy="35918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Sales Data Analytics Project  •  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292840" y="6391656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9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8. Business Insights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Prioritize marketing and inventory planning for the strongest products and major markets, especially the UK.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Increase inventory readiness before the September–November high-demand period.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Use seasonal campaigns ahead of peak months to capture additional demand.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Monitor product and country performance through the Power BI dashboard to support faster decisions.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Investigate opportunities to grow strong international markets beyond the UK.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Sales Data Analytics Project  •  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315700" y="6382512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10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9.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The project demonstrates a complete data analytics workflow using Python, EDA, visualization, Power BI, Git, and GitHub.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The analysis revealed strong sales concentration in the UK, high-performing products, and a clear late-year increase in demand.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The findings can support inventory planning, targeted marketing, sales monitoring, and future forecasting.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The final repository provides the dataset, notebook, Power BI dashboard, visualizations, and documentation for portfolio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2800" b="1">
                <a:solidFill>
                  <a:srgbClr val="2D6096"/>
                </a:solidFill>
              </a:defRPr>
            </a:pPr>
            <a:r>
              <a:rPr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 dirty="0">
                <a:latin typeface="Aptos"/>
              </a:rPr>
              <a:t>Sales Data Analytics Project  • 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228439" y="6382512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dirty="0"/>
              <a:t>1</a:t>
            </a: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730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Nagapatla Irfan</cp:lastModifiedBy>
  <cp:revision>3</cp:revision>
  <dcterms:created xsi:type="dcterms:W3CDTF">2013-01-27T09:14:16Z</dcterms:created>
  <dcterms:modified xsi:type="dcterms:W3CDTF">2026-09-12T06:58:15Z</dcterms:modified>
  <cp:category/>
</cp:coreProperties>
</file>